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2" r:id="rId9"/>
    <p:sldId id="265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F8FB3-E484-450A-826A-5E414DEED31E}" v="97" dt="2025-09-17T19:22:39.975"/>
  </p1510:revLst>
</p1510:revInfo>
</file>

<file path=ppt/tableStyles.xml><?xml version="1.0" encoding="utf-8"?>
<a:tblStyleLst xmlns:a="http://schemas.openxmlformats.org/drawingml/2006/main" def="{79F4204A-ABA0-4A8C-8965-BA2360FB01D8}">
  <a:tblStyle styleId="{79F4204A-ABA0-4A8C-8965-BA2360FB01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6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1:09.5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308 141 24575,'-2'-1'0,"0"1"0,0 0 0,-1-1 0,1 1 0,0-1 0,0 0 0,0 0 0,0 1 0,0-2 0,0 1 0,0 0 0,0 0 0,0 0 0,1-1 0,-1 1 0,-2-3 0,-30-38 0,15 17 0,18 25 0,0-1 0,0 0 0,1 1 0,-1-1 0,0 0 0,1 0 0,-1 0 0,0 1 0,1-1 0,-1 0 0,1 0 0,-1 0 0,1 0 0,0 0 0,-1 0 0,1 0 0,0 0 0,0 0 0,0 0 0,0 0 0,0 0 0,0 0 0,0 0 0,0-2 0,1 2 0,0 0 0,-1 0 0,1 0 0,0 1 0,0-1 0,0 0 0,0 0 0,0 1 0,0-1 0,0 1 0,0-1 0,0 1 0,0-1 0,0 1 0,0-1 0,1 1 0,-1 0 0,1 0 0,11-2 0,0 1 0,0 0 0,14 2 0,-16 0 0,-1-2 0,38 3 0,-47-2 0,0 0 0,1 0 0,-1 0 0,0 1 0,1-1 0,-1 0 0,0 1 0,0-1 0,1 0 0,-1 1 0,0 0 0,0-1 0,0 1 0,0 0 0,1-1 0,-1 1 0,0 0 0,0 0 0,-1 0 0,1 0 0,0 0 0,0 0 0,0 0 0,-1 0 0,1 0 0,0 1 0,0 1 0,-2 0 0,0 0 0,0 0 0,-1 0 0,1 0 0,-1-1 0,0 1 0,1 0 0,-1-1 0,-1 1 0,1-1 0,0 0 0,-4 3 0,-1 3 0,-37 38 0,35-37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1:21.9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473 230 24575,'-2'0'0,"-2"0"0,1 0 0,-1 0 0,0-1 0,1 1 0,-5-2 0,5 0 0,-1 0 0,1 0 0,-1 0 0,1-1 0,0 0 0,0 1 0,0-1 0,0-1 0,0 1 0,1 0 0,-1 0 0,-2-7 0,-30-39 0,31 45 0,1 0 0,-1 1 0,1-1 0,-1 1 0,0-1 0,0 1 0,-1 1 0,1-1 0,-7-3 0,9 6 0,0 0 0,1 0 0,-1 0 0,0 0 0,1 0 0,-1 0 0,0 0 0,1 0 0,-1 1 0,1-1 0,-1 1 0,0-1 0,1 1 0,-1 0 0,1 0 0,0-1 0,-1 1 0,1 0 0,-1 0 0,1 0 0,0 1 0,0-1 0,0 0 0,0 0 0,-2 3 0,-26 41 0,23-35 0,-1 2 0,5-6 0,-1-1 0,0 0 0,-1-1 0,1 1 0,-9 8 0,10-11 0,-1 0 0,0-1 0,0 1 0,0-1 0,0 1 0,0-1 0,0 0 0,0 0 0,-1 0 0,1 0 0,0-1 0,-1 0 0,-4 1 0,-3-1 0,-63 2 0,69-2 0,1-1 0,-1 1 0,0-1 0,0 0 0,0 0 0,1 0 0,-1-1 0,1 0 0,-1 0 0,1 0 0,0 0 0,-6-4 0,9 5 0,0-1 0,-1 1 0,1 0 0,0-1 0,0 1 0,0-1 0,0 1 0,0-1 0,0 0 0,0 1 0,1-1 0,-1 0 0,1 0 0,-1 0 0,1 1 0,-1-1 0,1 0 0,0 0 0,0 0 0,0-2 0,1 0 0,0 0 0,0 0 0,0 0 0,0 0 0,1 0 0,-1 0 0,1 1 0,0-1 0,3-3 0,3-4 0,0 1 0,1 0 0,0 0 0,20-15 0,-22 21 0,1-1 0,0 1 0,0 1 0,0 0 0,1 0 0,-1 0 0,1 1 0,0 0 0,-1 1 0,18-1 0,-13 1 0,0 0 0,0-2 0,0 1 0,15-6 0,52-15-1365,-68 18-5461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1:28.7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88 130 24595,'6'-8'6,"3"-3"0,0 1 0,0 0 1,1 1-1,11-7-2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1:38.1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471 113 24508,'-471'52'0,"664"19"0,-386-142 0,366-41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0:47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484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0:49.2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97 168 24575,'-6'2'0,"-4"-1"0,-14 2 0,-17 3 0,32-2-1365,2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0:49.5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1:44.5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414 32 24575,'18'-4'0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2:39.0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55 334 24575,'17'-32'0,"-8"14"0,2 1 0,-7 12 0,-1 0 0,0 1 0,0-1 0,0 0 0,-1 0 0,4-11 0,-33 40 0,21-14 0,-15 23 0,21-32 0,-1 0 0,1 0 0,-1 0 0,0 0 0,1-1 0,-1 1 0,0 0 0,0 0 0,0-1 0,0 1 0,0-1 0,1 1 0,-1 0 0,0-1 0,0 0 0,0 1 0,-1-1 0,1 0 0,0 1 0,0-1 0,0 0 0,0 0 0,0 0 0,0 0 0,0 0 0,0 0 0,-2 0 0,3 6 0,-1 16 0</inkml:trace>
  <inkml:trace contextRef="#ctx0" brushRef="#br0">34 330 24575,'10'-8'0,"9"-6"0,0 2 0,0 1 0,1 0 0,1 1 0,0 2 0,-2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7T13:24:16.3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0 24575,'3'2'0,"0"1"0,0-1 0,0 0 0,1 0 0,-1-1 0,0 1 0,1-1 0,4 2 0,-4-1 0,13 6 0,0 1 0,-1 1 0,23 16 0,-87-25 0,39-2 0,1 0 0,-1 0 0,1-1 0,-13-3 0,-20-5 0,41 10 3,0 0-1,0 0 0,0 0 1,0 0-1,0 0 1,0 0-1,0 1 0,0-1 1,0 0-1,0 0 0,0 0 1,0 0-1,0 0 1,0 0-1,0 0 0,0 0 1,0 0-1,0 0 1,0 0-1,0 0 0,0 0 1,0 0-1,0 0 0,0 1 1,-1-1-1,1 0 1,0 0-1,0 0 0,0 0 1,0 0-1,0 0 1,0 0-1,0 0 0,0 0 1,0 0-1,0 0 0,0 0 1,0 0-1,0 0 1,0 0-1,0 0 0,-1 0 1,1 0-1,0 0 1,0 0-1,0 0 0,0 0 1,0 0-1,5 4-1484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D61D86A-F7CB-CC28-E1A7-98DAB5F0E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A714A58E-A669-F1C1-F6BE-D2D1F25961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B79A6882-35A8-B917-C0C8-87F153F43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7703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33bb63c8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33bb63c8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1C47C68-9C31-2BDA-0D01-2FFA6516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33bb63c83_0_1:notes">
            <a:extLst>
              <a:ext uri="{FF2B5EF4-FFF2-40B4-BE49-F238E27FC236}">
                <a16:creationId xmlns:a16="http://schemas.microsoft.com/office/drawing/2014/main" id="{CA8582D3-14E5-C177-ECD3-5D5F5CBB5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33bb63c83_0_1:notes">
            <a:extLst>
              <a:ext uri="{FF2B5EF4-FFF2-40B4-BE49-F238E27FC236}">
                <a16:creationId xmlns:a16="http://schemas.microsoft.com/office/drawing/2014/main" id="{3D92A627-2E96-FAE6-9401-5409AB5C9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2106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1.png"/><Relationship Id="rId18" Type="http://schemas.openxmlformats.org/officeDocument/2006/relationships/customXml" Target="../ink/ink7.xml"/><Relationship Id="rId3" Type="http://schemas.openxmlformats.org/officeDocument/2006/relationships/customXml" Target="../ink/ink1.xml"/><Relationship Id="rId21" Type="http://schemas.openxmlformats.org/officeDocument/2006/relationships/customXml" Target="../ink/ink9.xml"/><Relationship Id="rId7" Type="http://schemas.openxmlformats.org/officeDocument/2006/relationships/image" Target="../media/image8.png"/><Relationship Id="rId12" Type="http://schemas.openxmlformats.org/officeDocument/2006/relationships/customXml" Target="../ink/ink4.xml"/><Relationship Id="rId17" Type="http://schemas.openxmlformats.org/officeDocument/2006/relationships/image" Target="../media/image13.png"/><Relationship Id="rId25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6.xml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24" Type="http://schemas.openxmlformats.org/officeDocument/2006/relationships/image" Target="../media/image16.png"/><Relationship Id="rId15" Type="http://schemas.openxmlformats.org/officeDocument/2006/relationships/image" Target="../media/image12.png"/><Relationship Id="rId23" Type="http://schemas.openxmlformats.org/officeDocument/2006/relationships/customXml" Target="../ink/ink10.xml"/><Relationship Id="rId10" Type="http://schemas.openxmlformats.org/officeDocument/2006/relationships/customXml" Target="../ink/ink3.xml"/><Relationship Id="rId19" Type="http://schemas.openxmlformats.org/officeDocument/2006/relationships/customXml" Target="../ink/ink8.xml"/><Relationship Id="rId9" Type="http://schemas.openxmlformats.org/officeDocument/2006/relationships/image" Target="../media/image9.png"/><Relationship Id="rId14" Type="http://schemas.openxmlformats.org/officeDocument/2006/relationships/customXml" Target="../ink/ink5.xml"/><Relationship Id="rId22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506119"/>
            <a:ext cx="8520600" cy="111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sz="2500" dirty="0"/>
              <a:t>INSTACAMPUS: SMART AUTOMATION SYSTEM</a:t>
            </a:r>
            <a:endParaRPr sz="25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737643"/>
            <a:ext cx="8520600" cy="14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 dirty="0"/>
              <a:t>Group Members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-US" dirty="0"/>
              <a:t>Yash Jadhav(67)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 dirty="0"/>
              <a:t>Abhishek Pathak(68)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 dirty="0"/>
              <a:t>Ajay Yedge(69)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 dirty="0"/>
              <a:t>Guide Name: Prof.Hima Kantharia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endParaRPr dirty="0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275" y="64250"/>
            <a:ext cx="6477899" cy="10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922B87-4981-3F36-79BF-1D6FEB299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826" y="0"/>
            <a:ext cx="6360417" cy="1412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103055"/>
            <a:ext cx="8520600" cy="66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Literature Survey</a:t>
            </a:r>
            <a:br>
              <a:rPr lang="en" dirty="0"/>
            </a:br>
            <a:r>
              <a:rPr lang="en" sz="800" dirty="0"/>
              <a:t>Table no.-1</a:t>
            </a:r>
            <a:endParaRPr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304FA-163A-70DC-08D7-AA735CD8E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694141"/>
            <a:ext cx="8520599" cy="43463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BEB197A-C7EF-8A5B-C041-DBFB921D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DCE9FBB-AEC4-8ADD-783D-DDDBE4C50B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03055"/>
            <a:ext cx="8520600" cy="66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Literature Survey</a:t>
            </a:r>
            <a:br>
              <a:rPr lang="en" dirty="0"/>
            </a:br>
            <a:r>
              <a:rPr lang="en" sz="800" dirty="0"/>
              <a:t>Table no:-2</a:t>
            </a:r>
            <a:endParaRPr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2A5-E4E0-B19D-085A-D4DD478BC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764965"/>
            <a:ext cx="8393685" cy="427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4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0109F-6ED5-4597-CCBB-127D74362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02"/>
          <a:stretch>
            <a:fillRect/>
          </a:stretch>
        </p:blipFill>
        <p:spPr>
          <a:xfrm>
            <a:off x="275063" y="847344"/>
            <a:ext cx="8631045" cy="4148402"/>
          </a:xfrm>
          <a:prstGeom prst="rect">
            <a:avLst/>
          </a:prstGeom>
        </p:spPr>
      </p:pic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97E4D25E-18A0-E102-116D-9BE187C5875A}"/>
              </a:ext>
            </a:extLst>
          </p:cNvPr>
          <p:cNvSpPr txBox="1">
            <a:spLocks/>
          </p:cNvSpPr>
          <p:nvPr/>
        </p:nvSpPr>
        <p:spPr>
          <a:xfrm>
            <a:off x="311700" y="147754"/>
            <a:ext cx="8520600" cy="66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ct val="111111"/>
            </a:pPr>
            <a:r>
              <a:rPr lang="en-US" sz="2600" dirty="0"/>
              <a:t>Literature Survey</a:t>
            </a:r>
            <a:br>
              <a:rPr lang="en-US" dirty="0"/>
            </a:br>
            <a:r>
              <a:rPr lang="en-US" sz="800" dirty="0"/>
              <a:t>Table no.-3</a:t>
            </a:r>
          </a:p>
        </p:txBody>
      </p:sp>
    </p:spTree>
    <p:extLst>
      <p:ext uri="{BB962C8B-B14F-4D97-AF65-F5344CB8AC3E}">
        <p14:creationId xmlns:p14="http://schemas.microsoft.com/office/powerpoint/2010/main" val="90907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118946"/>
            <a:ext cx="8520600" cy="631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Block Diagram of system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A887E85-3D00-C0C7-942C-350300A2EA90}"/>
                  </a:ext>
                </a:extLst>
              </p14:cNvPr>
              <p14:cNvContentPartPr/>
              <p14:nvPr/>
            </p14:nvContentPartPr>
            <p14:xfrm>
              <a:off x="3566025" y="2905540"/>
              <a:ext cx="66960" cy="446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A887E85-3D00-C0C7-942C-350300A2EA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59905" y="2899420"/>
                <a:ext cx="792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FFC85AF-1FA4-82D3-870A-597AC2313E2B}"/>
                  </a:ext>
                </a:extLst>
              </p14:cNvPr>
              <p14:cNvContentPartPr/>
              <p14:nvPr/>
            </p14:nvContentPartPr>
            <p14:xfrm>
              <a:off x="3181545" y="3037300"/>
              <a:ext cx="170640" cy="87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FFC85AF-1FA4-82D3-870A-597AC2313E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75065" y="3030820"/>
                <a:ext cx="1828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E05F24D-C811-988E-B97A-2438D75977F5}"/>
                  </a:ext>
                </a:extLst>
              </p14:cNvPr>
              <p14:cNvContentPartPr/>
              <p14:nvPr/>
            </p14:nvContentPartPr>
            <p14:xfrm>
              <a:off x="3328425" y="3108940"/>
              <a:ext cx="23760" cy="237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E05F24D-C811-988E-B97A-2438D75977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22305" y="310282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36091CA-A3C8-EF72-273E-1E0932C6D988}"/>
                  </a:ext>
                </a:extLst>
              </p14:cNvPr>
              <p14:cNvContentPartPr/>
              <p14:nvPr/>
            </p14:nvContentPartPr>
            <p14:xfrm>
              <a:off x="3449385" y="2910940"/>
              <a:ext cx="169920" cy="66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36091CA-A3C8-EF72-273E-1E0932C6D98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42905" y="2904820"/>
                <a:ext cx="18216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67FB494-CB33-9AF2-A87D-A3B3FC4260E3}"/>
              </a:ext>
            </a:extLst>
          </p:cNvPr>
          <p:cNvGrpSpPr/>
          <p:nvPr/>
        </p:nvGrpSpPr>
        <p:grpSpPr>
          <a:xfrm>
            <a:off x="3203835" y="3048820"/>
            <a:ext cx="403230" cy="168560"/>
            <a:chOff x="3203835" y="3048820"/>
            <a:chExt cx="403230" cy="1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697809-6322-705F-CC9E-94CF3F8C33A1}"/>
                    </a:ext>
                  </a:extLst>
                </p14:cNvPr>
                <p14:cNvContentPartPr/>
                <p14:nvPr/>
              </p14:nvContentPartPr>
              <p14:xfrm>
                <a:off x="3427065" y="3070420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697809-6322-705F-CC9E-94CF3F8C33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20945" y="30639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C0E6C47-5613-D697-2829-5E84E79FDC90}"/>
                    </a:ext>
                  </a:extLst>
                </p14:cNvPr>
                <p14:cNvContentPartPr/>
                <p14:nvPr/>
              </p14:nvContentPartPr>
              <p14:xfrm>
                <a:off x="3316905" y="3110020"/>
                <a:ext cx="35280" cy="7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C0E6C47-5613-D697-2829-5E84E79FDC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10425" y="3103900"/>
                  <a:ext cx="475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9878A10-D9A7-CEDA-3811-94FFA7C2A17E}"/>
                    </a:ext>
                  </a:extLst>
                </p14:cNvPr>
                <p14:cNvContentPartPr/>
                <p14:nvPr/>
              </p14:nvContentPartPr>
              <p14:xfrm>
                <a:off x="3315465" y="3122260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9878A10-D9A7-CEDA-3811-94FFA7C2A1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08985" y="31157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B6A151B-1A9D-D080-F2D3-CE4543817DEC}"/>
                    </a:ext>
                  </a:extLst>
                </p14:cNvPr>
                <p14:cNvContentPartPr/>
                <p14:nvPr/>
              </p14:nvContentPartPr>
              <p14:xfrm>
                <a:off x="3600225" y="3048820"/>
                <a:ext cx="6840" cy="1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B6A151B-1A9D-D080-F2D3-CE4543817DE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94105" y="3042700"/>
                  <a:ext cx="190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536B402-EDF1-2D22-21E0-257F253F258F}"/>
                    </a:ext>
                  </a:extLst>
                </p14:cNvPr>
                <p14:cNvContentPartPr/>
                <p14:nvPr/>
              </p14:nvContentPartPr>
              <p14:xfrm>
                <a:off x="3203835" y="3177060"/>
                <a:ext cx="54000" cy="40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536B402-EDF1-2D22-21E0-257F253F258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97715" y="3170940"/>
                  <a:ext cx="6624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EA8AAB4-A62C-E84A-8E7F-9F86413948ED}"/>
                  </a:ext>
                </a:extLst>
              </p14:cNvPr>
              <p14:cNvContentPartPr/>
              <p14:nvPr/>
            </p14:nvContentPartPr>
            <p14:xfrm>
              <a:off x="5027805" y="2874450"/>
              <a:ext cx="52920" cy="27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EA8AAB4-A62C-E84A-8E7F-9F86413948E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021325" y="2867970"/>
                <a:ext cx="65160" cy="392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6B05868-FB32-4727-5350-99BB520C736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67863" y="698810"/>
            <a:ext cx="5808273" cy="4325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33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Hardware/Software Requirements</a:t>
            </a:r>
            <a:br>
              <a:rPr lang="en" dirty="0"/>
            </a:br>
            <a:br>
              <a:rPr lang="en" dirty="0"/>
            </a:br>
            <a:endParaRPr sz="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7B102E-1106-D0E6-EDC6-66AC54B90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468262"/>
              </p:ext>
            </p:extLst>
          </p:nvPr>
        </p:nvGraphicFramePr>
        <p:xfrm>
          <a:off x="311700" y="2197437"/>
          <a:ext cx="4438185" cy="2344280"/>
        </p:xfrm>
        <a:graphic>
          <a:graphicData uri="http://schemas.openxmlformats.org/drawingml/2006/table">
            <a:tbl>
              <a:tblPr>
                <a:tableStyleId>{79F4204A-ABA0-4A8C-8965-BA2360FB01D8}</a:tableStyleId>
              </a:tblPr>
              <a:tblGrid>
                <a:gridCol w="1286107">
                  <a:extLst>
                    <a:ext uri="{9D8B030D-6E8A-4147-A177-3AD203B41FA5}">
                      <a16:colId xmlns:a16="http://schemas.microsoft.com/office/drawing/2014/main" val="2447477348"/>
                    </a:ext>
                  </a:extLst>
                </a:gridCol>
                <a:gridCol w="3152078">
                  <a:extLst>
                    <a:ext uri="{9D8B030D-6E8A-4147-A177-3AD203B41FA5}">
                      <a16:colId xmlns:a16="http://schemas.microsoft.com/office/drawing/2014/main" val="170365400"/>
                    </a:ext>
                  </a:extLst>
                </a:gridCol>
              </a:tblGrid>
              <a:tr h="283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pecification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inimum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385443"/>
                  </a:ext>
                </a:extLst>
              </a:tr>
              <a:tr h="307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Quad-core Intel i5 / AMD Ryzen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14508"/>
                  </a:ext>
                </a:extLst>
              </a:tr>
              <a:tr h="288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409452"/>
                  </a:ext>
                </a:extLst>
              </a:tr>
              <a:tr h="481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TORAGE</a:t>
                      </a:r>
                    </a:p>
                    <a:p>
                      <a:pPr>
                        <a:buNone/>
                      </a:pP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 GB SSD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622053"/>
                  </a:ext>
                </a:extLst>
              </a:tr>
              <a:tr h="481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NVIDIA GPU with 4 GB VRAM (e.g., GTX 1650)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741014"/>
                  </a:ext>
                </a:extLst>
              </a:tr>
              <a:tr h="481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 / Ubuntu 20.04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8062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D627BC3-0B42-E929-1FC3-343237D396B4}"/>
              </a:ext>
            </a:extLst>
          </p:cNvPr>
          <p:cNvSpPr txBox="1"/>
          <p:nvPr/>
        </p:nvSpPr>
        <p:spPr>
          <a:xfrm>
            <a:off x="895815" y="1645176"/>
            <a:ext cx="3497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 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44425-6036-139D-DDB4-2753A8D4851F}"/>
              </a:ext>
            </a:extLst>
          </p:cNvPr>
          <p:cNvSpPr txBox="1"/>
          <p:nvPr/>
        </p:nvSpPr>
        <p:spPr>
          <a:xfrm>
            <a:off x="5925015" y="1645176"/>
            <a:ext cx="2706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</a:t>
            </a:r>
            <a:r>
              <a:rPr lang="en-US" sz="1600" b="1" dirty="0"/>
              <a:t>:</a:t>
            </a:r>
            <a:endParaRPr lang="en-IN" sz="16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04FBF5-67F7-F83C-D10F-50BBDEC4E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037142"/>
              </p:ext>
            </p:extLst>
          </p:nvPr>
        </p:nvGraphicFramePr>
        <p:xfrm>
          <a:off x="5493834" y="2205029"/>
          <a:ext cx="3434576" cy="2218288"/>
        </p:xfrm>
        <a:graphic>
          <a:graphicData uri="http://schemas.openxmlformats.org/drawingml/2006/table">
            <a:tbl>
              <a:tblPr firstRow="1" bandRow="1">
                <a:tableStyleId>{79F4204A-ABA0-4A8C-8965-BA2360FB01D8}</a:tableStyleId>
              </a:tblPr>
              <a:tblGrid>
                <a:gridCol w="1604358">
                  <a:extLst>
                    <a:ext uri="{9D8B030D-6E8A-4147-A177-3AD203B41FA5}">
                      <a16:colId xmlns:a16="http://schemas.microsoft.com/office/drawing/2014/main" val="3914357806"/>
                    </a:ext>
                  </a:extLst>
                </a:gridCol>
                <a:gridCol w="1830218">
                  <a:extLst>
                    <a:ext uri="{9D8B030D-6E8A-4147-A177-3AD203B41FA5}">
                      <a16:colId xmlns:a16="http://schemas.microsoft.com/office/drawing/2014/main" val="1591242214"/>
                    </a:ext>
                  </a:extLst>
                </a:gridCol>
              </a:tblGrid>
              <a:tr h="43409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027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10/11, Ubuntu 20.04/22.04, or macOS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21001"/>
                  </a:ext>
                </a:extLst>
              </a:tr>
              <a:tr h="36792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HTML5, CSS3, JavaScript , Bootstrap / Tailwind 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598548"/>
                  </a:ext>
                </a:extLst>
              </a:tr>
              <a:tr h="47355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PHP/PYTHON,MYSQL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6923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2719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063402-D3BE-89D2-93E9-1F377D1B243A}"/>
              </a:ext>
            </a:extLst>
          </p:cNvPr>
          <p:cNvSpPr txBox="1"/>
          <p:nvPr/>
        </p:nvSpPr>
        <p:spPr>
          <a:xfrm>
            <a:off x="556260" y="999891"/>
            <a:ext cx="8153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Sai Teja Gajjala, Devi Deepak Manchala, Bhargav Gummadelly, Naga Sailaja K. (2024). Empowering Enterprise Development by Building and Deploying Admin Dashboard using Refine Framework. arXiv preprint.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Web Application Dashboards as a Tool for Data Visualization and Enrichment. (Research article / conference paper). (Authors &amp; venue in the paper).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Ye (or corresponding authors). (2025). Design of University Fees and Financial Management System. Proceedings (ACM).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Alan D. Smith. (2008). Online Payment Service Providers and Customer Relationship Management. International Journal of Electronic Finance (Inderscience)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B. Khan, R. F. Olanrewaju, et al. (Year). A Compendious Study of Online Payment Systems: Past Developments, Present Impact, and Future Considerations. (Survey paper).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M. Alias, A. Zainuddin, &amp; N. A. Wahab. (2018). Assessing the Success Behind the Use of EMIS in Higher Education Using DeLone &amp; McLean IS Success Model. 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S. B. Gupta &amp; A. Nath. (2017). Advance Technique for Online Payment Security in E-Commerce: Double Verification. International Journal of Computer Science and Information Security, 15(8), 256–261.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79">
          <a:extLst>
            <a:ext uri="{FF2B5EF4-FFF2-40B4-BE49-F238E27FC236}">
              <a16:creationId xmlns:a16="http://schemas.microsoft.com/office/drawing/2014/main" id="{9FA9CDC4-B010-8643-37DC-00CB7A8B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9FDCE4BE-198D-647A-F46F-5E56CC18D4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1696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4C466-DCB9-EA45-21A5-4FE362341D06}"/>
              </a:ext>
            </a:extLst>
          </p:cNvPr>
          <p:cNvSpPr txBox="1"/>
          <p:nvPr/>
        </p:nvSpPr>
        <p:spPr>
          <a:xfrm>
            <a:off x="311700" y="1089660"/>
            <a:ext cx="85206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[8] R. Singh &amp; P. Malhotra. (2019). Determinants of Customers’ Acceptance of Electronic Payment System in Indian Banking Sector. International Journal of Bank Marketing, 37(5), 1230–1252.</a:t>
            </a:r>
          </a:p>
          <a:p>
            <a:endParaRPr lang="en-US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sz="1200" dirty="0"/>
              <a:t>[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9] G. A. Ajzen &amp; T. P. Choudhury. (2020). Adoption of E-Payment Systems: A Review of Literature. Journal of Business and Management Review, 11(2), 45–58. </a:t>
            </a:r>
          </a:p>
          <a:p>
            <a:endParaRPr lang="en-US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M. S. Hwang &amp; C. C. Lee. (2016). A Secure Electronic Transaction Payment Protocol: Design and Implementation. International Journal of Network Security, 18(6), 1125–1135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A. Al-Mamary, A. Shamsuddin, &amp; N. A. Aziati. (2014). Role-based Access Control in Educational Administration System. International Journal of Computer Applications, 86(6), 1–6.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K. Tarus &amp; P. Gichoya. (2015). Impact of Education Management Information System (EMIS) on Teaching-Learning Development. International Journal of Education and Development using ICT, 11(2), 101–114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/>
              <a:t>[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13] H. Yang, S. Shen, &amp; J. Chen. (2019). Toward a Smart Campus Based on Smart Technologies and Best Practices. IEEE Access, 7, 72071–72084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P. Jain &amp; R. Kumar. (2021). Smart College Chatbot Using Machine Learning and Python. International Journal of Advanced Research in Computer Science, 12(4), 45–50.</a:t>
            </a:r>
          </a:p>
          <a:p>
            <a:endParaRPr lang="en-US" sz="1200" dirty="0"/>
          </a:p>
          <a:p>
            <a:endParaRPr lang="en-US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0087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6CE4D2-28E8-DDC1-A40B-A79BFB40B0E8}"/>
              </a:ext>
            </a:extLst>
          </p:cNvPr>
          <p:cNvSpPr txBox="1"/>
          <p:nvPr/>
        </p:nvSpPr>
        <p:spPr>
          <a:xfrm>
            <a:off x="392430" y="541020"/>
            <a:ext cx="83591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480B7-985B-BC4E-6FEF-146EBFB8BEBC}"/>
              </a:ext>
            </a:extLst>
          </p:cNvPr>
          <p:cNvSpPr txBox="1"/>
          <p:nvPr/>
        </p:nvSpPr>
        <p:spPr>
          <a:xfrm>
            <a:off x="392430" y="1432560"/>
            <a:ext cx="835914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M. Chatterjee, A. Dey, &amp; S. Saha. (2022). Using a Smart Chatbot System as a Communication Tool for Campus Navigation (SoshaMapBot). Procedia Computer Science, 192, 2340–2347.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Y. Li, X. Zhang, &amp; W. Huang. (2020). Education Exchange Storage Protocol: Transformation into Decentralized Learning Platform Using Blockchain. Journal of Network and Computer Applications, 168, 102738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65842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734</Words>
  <Application>Microsoft Office PowerPoint</Application>
  <PresentationFormat>On-screen Show (16:9)</PresentationFormat>
  <Paragraphs>79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Simple Light</vt:lpstr>
      <vt:lpstr>INSTACAMPUS: SMART AUTOMATION SYSTEM</vt:lpstr>
      <vt:lpstr>Literature Survey Table no.-1</vt:lpstr>
      <vt:lpstr>Literature Survey Table no:-2</vt:lpstr>
      <vt:lpstr>PowerPoint Presentation</vt:lpstr>
      <vt:lpstr>Block Diagram of system</vt:lpstr>
      <vt:lpstr>Hardware/Software Requirements  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Siddharth Shasane</dc:creator>
  <cp:lastModifiedBy>ajay yedge</cp:lastModifiedBy>
  <cp:revision>8</cp:revision>
  <dcterms:modified xsi:type="dcterms:W3CDTF">2025-09-18T13:39:44Z</dcterms:modified>
</cp:coreProperties>
</file>